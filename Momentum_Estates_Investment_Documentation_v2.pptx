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7" r:id="rId17"/>
    <p:sldId id="270" r:id="rId18"/>
    <p:sldId id="275" r:id="rId19"/>
    <p:sldId id="271" r:id="rId20"/>
    <p:sldId id="272" r:id="rId21"/>
    <p:sldId id="274" r:id="rId22"/>
    <p:sldId id="273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90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A9D4-2976-9A03-50B5-7079CD0D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D010C-532D-0ABE-801A-199F4FEED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ED8BB-D651-6FD2-F864-05336B2B2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10746-CBF3-300F-8668-4C7D8AF5E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27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34DC-0D09-F77E-14CB-DED37633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08A50-131D-31F0-A920-AE19BAC9C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97BCB-D0C2-5F84-4406-E64208356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90590-5646-DA49-C89D-0770424D6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88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E728-6DA8-0B00-6B54-F0233123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11CAB-929E-24EF-1776-1F4639FEB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94A66-1DAB-9271-AAC2-24E57AB59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E01C1-C098-C827-2492-8EFED592D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6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3657600"/>
          </a:xfrm>
          <a:prstGeom prst="rect">
            <a:avLst/>
          </a:prstGeom>
          <a:solidFill>
            <a:srgbClr val="1E276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37160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EF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Estate Web Application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Technical Documentation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Gaborone, Botswana</a:t>
            </a: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web-based platform transforming how Momentum Estates manages properties, connects with clients, and scales operations across Botswana and internationally.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37160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737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enabling 24/7 operations, automated property management, global reach, and data-driven decision making for sustainable growth.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3192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(responsive design)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5478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&amp; management system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7764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tour integration &amp; online enquiries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system (buyers, sellers, agents, admin)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2336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with filters &amp; saved properties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for deposits &amp; bookings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69087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revenue &amp; performance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Class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DRIVERS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411480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DEMAND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Affordable housing shortage in major cities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Luxury apartment demand from expatriates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Mixed-use development growing appeal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3200400"/>
            <a:ext cx="38404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INDUSTRIAL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3749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SEZ investment &amp; foreign capital growth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Logistics &amp; warehousing expansion needs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office &amp; retail space demand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FOR WEB APPLICATION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 TRANSFORMATION?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accessible anytime, anywhere. No office hours limitations. Global investor reach.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property management. Reduced admin overhead. Real-time inventory tracking.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dashboard. Market trends. Customer behavior insights for strategic decisions.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7315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tours reduce physical viewings by 60%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76472"/>
            <a:ext cx="7315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776472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enquiries convert 3x faster than phone calls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032504"/>
            <a:ext cx="7315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032504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 enables instant deposit processing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88536"/>
            <a:ext cx="7315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digital marketing expand reach beyond traditional methods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544568"/>
            <a:ext cx="7315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544568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 supports growth without proportional cost increase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&amp; CAPABILITIES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listings (buy, rent, sell)
• Multiple property types (residential, commercial, industrial)
• Image galleries, floor plans, virtual tours
• Real-time inventory &amp; availability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search with multiple filters
• Saved properties &amp; shortlist functionality
• User accounts (buyers, sellers, agents)
• Email &amp; SMS notifications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023360" cy="3200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enquiry submission system
• Payment gateway for deposits &amp; bookings
• Multiple payment methods (card, mobile, PayPal)
• Automated email confirmations &amp; invoices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2560320"/>
            <a:ext cx="402336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017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analytics &amp; performance metrics
• Property management (add, edit, publish/draft)
• Lead tracking &amp; customer management
• Content management (blog, about, policies)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402336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SEO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480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&amp; Bing search console integration
• Optimized meta tags &amp; structured data
• Social media integration &amp; sharing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40233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4023360"/>
            <a:ext cx="4023360" cy="3200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480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Multi-vendor architecture ready
• International operations support
• API-ready for mobile app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1188720"/>
          </a:xfrm>
          <a:prstGeom prst="rect">
            <a:avLst/>
          </a:prstGeom>
          <a:solidFill>
            <a:srgbClr val="14B8A6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HTML5/CSS3
• JavaScript ES6+
• Bootstrap 5
• Responsive Design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192024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4.x
• Python 3.10+
• REST API
• JWT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2024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
• Redis Cache
• 3NF Schema
• 20+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1920240" cy="1188720"/>
          </a:xfrm>
          <a:prstGeom prst="rect">
            <a:avLst/>
          </a:prstGeom>
          <a:solidFill>
            <a:srgbClr val="334155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
• SendGrid
• Paystack
• PayPal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 (desktop, tablet, mobile)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9319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MVC, RESTful APIs, authentication, property logic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434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caching, AWS S3 media, automated backups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SDLC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01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analysis, revenue model, feasibility study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901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requirements, user stories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diagrams, database design,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56032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74920" y="27432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development, API integration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872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UAT, performance testing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65760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F5F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74920" y="384048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6928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matrix, mitigation strategies, disaster recovery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WEEK IMPLEMENTATION SCHEDULE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09728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1554480"/>
            <a:ext cx="1828800" cy="411480"/>
          </a:xfrm>
          <a:prstGeom prst="rect">
            <a:avLst/>
          </a:prstGeom>
          <a:solidFill>
            <a:srgbClr val="14B8A6">
              <a:alpha val="70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308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0" cy="73152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10972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91640" y="2084832"/>
            <a:ext cx="2103120" cy="411480"/>
          </a:xfrm>
          <a:prstGeom prst="rect">
            <a:avLst/>
          </a:prstGeom>
          <a:solidFill>
            <a:srgbClr val="F59E0B">
              <a:alpha val="7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3080" y="21762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0" cy="73152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0972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91640" y="2615184"/>
            <a:ext cx="1645920" cy="411480"/>
          </a:xfrm>
          <a:prstGeom prst="rect">
            <a:avLst/>
          </a:prstGeom>
          <a:solidFill>
            <a:srgbClr val="0A1628">
              <a:alpha val="70000"/>
            </a:srgbClr>
          </a:solidFill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83080" y="27066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0" cy="73152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109728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455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9-12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91640" y="3145536"/>
            <a:ext cx="1371600" cy="411480"/>
          </a:xfrm>
          <a:prstGeom prst="rect">
            <a:avLst/>
          </a:prstGeom>
          <a:solidFill>
            <a:srgbClr val="14B8A6">
              <a:alpha val="70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83080" y="323697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Features 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0" cy="73152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675888"/>
            <a:ext cx="10972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758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12-14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91640" y="3675888"/>
            <a:ext cx="1645920" cy="411480"/>
          </a:xfrm>
          <a:prstGeom prst="rect">
            <a:avLst/>
          </a:prstGeom>
          <a:solidFill>
            <a:srgbClr val="F59E0B">
              <a:alpha val="7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83080" y="37673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 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133088"/>
            <a:ext cx="0" cy="73152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10972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4206240"/>
            <a:ext cx="1188720" cy="411480"/>
          </a:xfrm>
          <a:prstGeom prst="rect">
            <a:avLst/>
          </a:prstGeom>
          <a:solidFill>
            <a:srgbClr val="0A1628">
              <a:alpha val="70000"/>
            </a:srgbClr>
          </a:solidFill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83080" y="4297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1435608"/>
            <a:ext cx="4572000" cy="3570732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9768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297680" y="210312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Development Effort
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weeks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Milestones: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2: Complete technical design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7: Backend MVP ready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8: Full frontend integration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14: UAT complete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15: Production launch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COST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DEVELOPMENT COSTS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19507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(BWP)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(BWP)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Planning &amp;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6,000 - 12,000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&amp;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3,200 - 7,200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&amp; UML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8,000 - 15,000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75-90h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500-700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37,500 - 63,000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14,000 - 27,000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14,000 - 24,000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8,000 - 15,000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3017520"/>
            <a:ext cx="274320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BWP 90,700 - 163,200</a:t>
            </a:r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457200" y="3474720"/>
            <a:ext cx="8229600" cy="150876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OPERATIONAL COSTS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23360"/>
          <a:ext cx="7863840" cy="14630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 (BWP)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Hosting (VPS) +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500 - 1,200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 (AWS S3/Cloudinary)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100 - 300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Service (SendGrid)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0 - 200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 per 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+ SSL +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17 - 100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BWP 617 - 1,900/month (BWP 7,400 - 22,800/year)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DEVELOPER RATES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BENCHMARKING FOR SIMILAR PROJECTS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295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(250h)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$40-60/h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$70-100/h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$120-180/h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 - 45K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R400-600/h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R700-1K/h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R1.2-1.8K/h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R175K - 250K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$25-40/h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$45-70/h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$80-120/h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 - 30K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Botswana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P250-400/h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P500-700/h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P800-1.2K/h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P90.7K - 163K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97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Rates: USD 1 = P13.5  |  ZAR 1 = P0.75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COMPARISON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402336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34747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594360" y="3703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quality, $30K-60K (P405K-810K). Excellent but expensive.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3383280"/>
            <a:ext cx="402336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83480" y="34747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3703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rates, R175K-300K (P131K-225K). Proximity advantage.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160520"/>
            <a:ext cx="402336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4251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480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$18K-35K (P243K-473K). Communication challenges.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4160520"/>
            <a:ext cx="4023360" cy="640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83480" y="4251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 (Local)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83480" y="4480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P90.7K-163K. Direct communication, local expertise.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BENEFITS ANALYSIS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14B8A6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viewings, less admin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59E0B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enquiries vs.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market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5544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Hours/Week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P80-120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P20-40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6-8 MONTHS  |  3-YEAR ROI: 400-600%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MITIGATION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Downtime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[HIGH]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providers (Paystack, PayPal, mobile). Automatic failover.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82296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18288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Crash / Downtime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[HIGH]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21284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infrastructure. Load balancing. 99.9% uptime SLA.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182880" cy="5943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6883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/ Security Breach</a:t>
            </a: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[CRITICAL]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1693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backups. Database replication. Encryption at rest &amp; in transit.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18288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 Under Load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[MEDIUM]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62102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for static assets. Redis caching. Database indexing.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18288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09651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[HIGH]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enforcement. CSRF/XSS protection. Regular security audits.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 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HTTPS/SSL encryption for all data
• Database encryption at rest
• Password hashing (bcrypt)
• JWT token authentication
• CSRF &amp; XSS protection
• SQL injection prevention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GDPR-compliant data handling
• POPIA (SA privacy law)
• Privacy Policy &amp; Terms
• Cookie consent management
• User data export/deletion
• PCI-DSS payment 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2331720"/>
          </a:xfrm>
          <a:prstGeom prst="rect">
            <a:avLst/>
          </a:prstGeom>
          <a:solidFill>
            <a:srgbClr val="0A1628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Backup Strategy: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of data  |  2 different media  |  1 off-site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automated database backups (30-day retention)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full system snapshots (90-day retention)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database replication to secondary region
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Time Objective (RTO): 4 hours
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Point Objective (RPO): 24 hours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SUPPORT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33415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P2,000/2-3mo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Bug fixes
✓ Security updates
✓ 48h response time
✓ Email support
✓ Monthly backup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Basic features
✓ Performance optimization
✓ 24h response time
✓ Phone + email support
✓ Minor feature updates
✓ Quarterly security audits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9604D-64B7-277F-24DD-237566DB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022D49-80C2-EE72-C593-715A3EF13B3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2B4CC7-63CB-4542-0D1E-9C6F5AD4E476}"/>
              </a:ext>
            </a:extLst>
          </p:cNvPr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8644A4-AF5A-8803-CD61-D4ED06BBE9A9}"/>
              </a:ext>
            </a:extLst>
          </p:cNvPr>
          <p:cNvSpPr/>
          <p:nvPr/>
        </p:nvSpPr>
        <p:spPr>
          <a:xfrm>
            <a:off x="32461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973A6C-A8F7-D196-EEB8-A8ABD1E1E561}"/>
              </a:ext>
            </a:extLst>
          </p:cNvPr>
          <p:cNvSpPr/>
          <p:nvPr/>
        </p:nvSpPr>
        <p:spPr>
          <a:xfrm>
            <a:off x="33832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Basic features
✓ Performance optimization
✓ 24h response time
✓ Phone + email support
✓ Minor feature updates
✓ Quarterly security audits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BC7544-2556-6151-C572-4774AEEB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90" y="822960"/>
            <a:ext cx="8728019" cy="39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37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09A97-5633-3F96-6465-A5815BB0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74F289-87BA-3882-44B5-C6C57EBA08C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578E07-558F-5278-E92C-CC4C5A41A579}"/>
              </a:ext>
            </a:extLst>
          </p:cNvPr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3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2A3D88-A31E-FCEB-FA67-9A87B43C6834}"/>
              </a:ext>
            </a:extLst>
          </p:cNvPr>
          <p:cNvSpPr/>
          <p:nvPr/>
        </p:nvSpPr>
        <p:spPr>
          <a:xfrm>
            <a:off x="32461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79407D-8E78-75B5-6202-771AC0384BD6}"/>
              </a:ext>
            </a:extLst>
          </p:cNvPr>
          <p:cNvSpPr/>
          <p:nvPr/>
        </p:nvSpPr>
        <p:spPr>
          <a:xfrm>
            <a:off x="338328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Basic features
✓ Performance optimization
✓ 24h response time
✓ Phone + email support
✓ Minor feature updates
✓ Quarterly security audits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7774F-CC49-581B-BCC2-24BC6F055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49" y="0"/>
            <a:ext cx="68113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1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MOMENTUM ESTATES WINS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EXPERTISE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understands Botswana's real estate landscape. No cultural barriers.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digital adoption positions Momentum as tech-forward market leader.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architecture. Expandable to new regions and business models.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7784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provide customer behavior insights for strategic planning.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less manual work. Focus on relationships, not paperwork.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65760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7784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DIFFERENTIATION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presence builds trust. Demonstrates innovation and customer focus.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34531-CD50-D080-4D2A-C229B2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BE0CF0-F963-656C-2557-7B78AD3E6C7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94FA76-863C-E7C0-DCE7-D76F7C72C839}"/>
              </a:ext>
            </a:extLst>
          </p:cNvPr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3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9C3B16-0217-F7E4-F700-2C0243B52117}"/>
              </a:ext>
            </a:extLst>
          </p:cNvPr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90AC7A-2A23-E864-FEDE-1F3617AFFEC6}"/>
              </a:ext>
            </a:extLst>
          </p:cNvPr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MOMENTUM ESTATES WINS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ECFC3B-5246-1A50-D060-435E4F4BCF51}"/>
              </a:ext>
            </a:extLst>
          </p:cNvPr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F0BBBF-7D2F-A9F1-3C2B-736778AA0C07}"/>
              </a:ext>
            </a:extLst>
          </p:cNvPr>
          <p:cNvSpPr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C84894-3AE6-FFFD-13A1-68279EAEB3DC}"/>
              </a:ext>
            </a:extLst>
          </p:cNvPr>
          <p:cNvSpPr/>
          <p:nvPr/>
        </p:nvSpPr>
        <p:spPr>
          <a:xfrm>
            <a:off x="109728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EXPERTISE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5D67F1-8883-B5CE-F9AF-BA94C32BEB5F}"/>
              </a:ext>
            </a:extLst>
          </p:cNvPr>
          <p:cNvSpPr/>
          <p:nvPr/>
        </p:nvSpPr>
        <p:spPr>
          <a:xfrm>
            <a:off x="10972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understands Botswana's real estate landscape. No cultural barriers.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596111E-4239-0CF0-5647-642CB7B21848}"/>
              </a:ext>
            </a:extLst>
          </p:cNvPr>
          <p:cNvSpPr/>
          <p:nvPr/>
        </p:nvSpPr>
        <p:spPr>
          <a:xfrm>
            <a:off x="4937760" y="146304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3CBDA6-8167-C5EC-DC89-358C41E17622}"/>
              </a:ext>
            </a:extLst>
          </p:cNvPr>
          <p:cNvSpPr/>
          <p:nvPr/>
        </p:nvSpPr>
        <p:spPr>
          <a:xfrm>
            <a:off x="50749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9FC849-3AEE-11D9-9277-FC2E774029AB}"/>
              </a:ext>
            </a:extLst>
          </p:cNvPr>
          <p:cNvSpPr/>
          <p:nvPr/>
        </p:nvSpPr>
        <p:spPr>
          <a:xfrm>
            <a:off x="557784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F01F02-495A-C8CF-55D5-3659B84E6D31}"/>
              </a:ext>
            </a:extLst>
          </p:cNvPr>
          <p:cNvSpPr/>
          <p:nvPr/>
        </p:nvSpPr>
        <p:spPr>
          <a:xfrm>
            <a:off x="55778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digital adoption positions Momentum as tech-forward market leader.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6B6065F-5062-5E6D-3B14-217A412F9E47}"/>
              </a:ext>
            </a:extLst>
          </p:cNvPr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9F11F81-5AAC-D84A-FA7C-972CB051F4F0}"/>
              </a:ext>
            </a:extLst>
          </p:cNvPr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CA03055-D668-7742-8F20-8940F5EEFC05}"/>
              </a:ext>
            </a:extLst>
          </p:cNvPr>
          <p:cNvSpPr/>
          <p:nvPr/>
        </p:nvSpPr>
        <p:spPr>
          <a:xfrm>
            <a:off x="109728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READY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E8F1ED-9B76-1B3F-7D06-A6452DA68686}"/>
              </a:ext>
            </a:extLst>
          </p:cNvPr>
          <p:cNvSpPr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architecture. Expandable to new regions and business models.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F4B92A9-130C-2777-5D53-B31F2F84553A}"/>
              </a:ext>
            </a:extLst>
          </p:cNvPr>
          <p:cNvSpPr/>
          <p:nvPr/>
        </p:nvSpPr>
        <p:spPr>
          <a:xfrm>
            <a:off x="4937760" y="256032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F98A09-3C4E-D7EA-8B38-A512CB0653FD}"/>
              </a:ext>
            </a:extLst>
          </p:cNvPr>
          <p:cNvSpPr/>
          <p:nvPr/>
        </p:nvSpPr>
        <p:spPr>
          <a:xfrm>
            <a:off x="50749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2F63CD-1AC2-AB07-E8DB-589DB93EBA56}"/>
              </a:ext>
            </a:extLst>
          </p:cNvPr>
          <p:cNvSpPr/>
          <p:nvPr/>
        </p:nvSpPr>
        <p:spPr>
          <a:xfrm>
            <a:off x="557784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B93CFF0-A5E8-540F-47A0-EC3D638D3E7A}"/>
              </a:ext>
            </a:extLst>
          </p:cNvPr>
          <p:cNvSpPr/>
          <p:nvPr/>
        </p:nvSpPr>
        <p:spPr>
          <a:xfrm>
            <a:off x="55778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provide customer behavior insights for strategic planning.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8AE647-D3B2-CB7D-4794-EF08B245D87A}"/>
              </a:ext>
            </a:extLst>
          </p:cNvPr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D5AD49F-28FA-31C7-CA5B-A4F1F75D109A}"/>
              </a:ext>
            </a:extLst>
          </p:cNvPr>
          <p:cNvSpPr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CD2379-01CA-10C5-7F44-D0190F7B6E0B}"/>
              </a:ext>
            </a:extLst>
          </p:cNvPr>
          <p:cNvSpPr/>
          <p:nvPr/>
        </p:nvSpPr>
        <p:spPr>
          <a:xfrm>
            <a:off x="109728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7D5D9E-9CED-DB81-428E-173D2D6D2841}"/>
              </a:ext>
            </a:extLst>
          </p:cNvPr>
          <p:cNvSpPr/>
          <p:nvPr/>
        </p:nvSpPr>
        <p:spPr>
          <a:xfrm>
            <a:off x="10972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less manual work. Focus on relationships, not paperwork.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6F2991-5904-FCA8-5C07-70F104AB51C1}"/>
              </a:ext>
            </a:extLst>
          </p:cNvPr>
          <p:cNvSpPr/>
          <p:nvPr/>
        </p:nvSpPr>
        <p:spPr>
          <a:xfrm>
            <a:off x="4937760" y="3657600"/>
            <a:ext cx="402336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A1628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FB09CBA-6680-2107-246E-895070D590EB}"/>
              </a:ext>
            </a:extLst>
          </p:cNvPr>
          <p:cNvSpPr/>
          <p:nvPr/>
        </p:nvSpPr>
        <p:spPr>
          <a:xfrm>
            <a:off x="50749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EFDF534-C000-CB6F-976B-7AA1E5EFC750}"/>
              </a:ext>
            </a:extLst>
          </p:cNvPr>
          <p:cNvSpPr/>
          <p:nvPr/>
        </p:nvSpPr>
        <p:spPr>
          <a:xfrm>
            <a:off x="5577840" y="3794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DIFFERENTIATION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9E148F4-5E18-CF3B-C010-44089A08C2B9}"/>
              </a:ext>
            </a:extLst>
          </p:cNvPr>
          <p:cNvSpPr/>
          <p:nvPr/>
        </p:nvSpPr>
        <p:spPr>
          <a:xfrm>
            <a:off x="55778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presence builds trust. Demonstrates innovation and customer focus.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50237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APPROVAL TO LAUNCH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</a:t>
            </a: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1-2)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signing, requirements, project plan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8660" y="1874520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84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1938528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Planning </a:t>
            </a: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2-3)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1984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diagrams, database design, wireframes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" y="2350008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459736"/>
            <a:ext cx="320040" cy="3200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59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" y="2414016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2459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3-7)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24597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backend, authentication, property models,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" y="2825496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2935224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935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5840" y="2889504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3000" y="2935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 </a:t>
            </a: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7-8)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29352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search, forms, admin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" y="3300984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3410712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" y="3364992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43000" y="3410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Integration </a:t>
            </a: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9-12)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3410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gateway, virtual tours, email system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" y="3776472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05840" y="3840480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430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 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12-14)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48056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bug fixes, performance optimization, UAT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8660" y="4251960"/>
            <a:ext cx="0" cy="64008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" y="436168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4361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05840" y="4315968"/>
            <a:ext cx="758952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3000" y="4361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</a:t>
            </a: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15)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480560" y="4361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setup, SSL, domain, SEO, training, GO-LIVE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0" y="4709160"/>
            <a:ext cx="457200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ESTIMATED GO-LIVE: 15 WEEKS FROM PROJECT START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187452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2286000"/>
            <a:ext cx="585216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23317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830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proposal and technical documentation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2724912"/>
            <a:ext cx="585216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83080" y="27706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2770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7249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Q&amp;A session with development team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0" y="3163824"/>
            <a:ext cx="585216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83080" y="320954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1638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project scope and requirements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3602736"/>
            <a:ext cx="585216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83080" y="364845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8308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36027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development agreement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45920" y="4041648"/>
            <a:ext cx="585216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83080" y="408736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40416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1: Planning &amp; Design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4480560"/>
            <a:ext cx="5486400" cy="548640"/>
          </a:xfrm>
          <a:prstGeom prst="rect">
            <a:avLst/>
          </a:prstGeom>
          <a:solidFill>
            <a:srgbClr val="F59E0B"/>
          </a:solidFill>
          <a:ln/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REAL ESTATE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52C153-ECD6-C8BD-E64C-809BDF448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67" y="482599"/>
            <a:ext cx="7081864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38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6400800" cy="4229100"/>
          </a:xfrm>
          <a:prstGeom prst="rect">
            <a:avLst/>
          </a:prstGeom>
          <a:solidFill>
            <a:srgbClr val="1E276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ESTATES (PTY) LTD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3291840"/>
            <a:ext cx="4572000" cy="9144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</a:t>
            </a: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info@realtorsestates.co.bw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</a:t>
            </a: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+267 000 0000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Gaborone, Botswana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transform Botswana's real estate market together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Momentum Estates.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1896</Words>
  <Application>Microsoft Office PowerPoint</Application>
  <PresentationFormat>On-screen Show (16:9)</PresentationFormat>
  <Paragraphs>386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Momentum Estates - Real Estate Web Application Investment Documentation</dc:title>
  <dc:subject>PptxGenJS Presentation</dc:subject>
  <dc:creator>Momentum Estates Development Team</dc:creator>
  <cp:lastModifiedBy>Kemmifhele Kemmifhele</cp:lastModifiedBy>
  <cp:revision>3</cp:revision>
  <dcterms:created xsi:type="dcterms:W3CDTF">2026-02-10T10:54:10Z</dcterms:created>
  <dcterms:modified xsi:type="dcterms:W3CDTF">2026-02-10T16:31:03Z</dcterms:modified>
</cp:coreProperties>
</file>